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Simulador logístico multiplataforma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Proyecto de Estructuras de Datos · Semanas 1, 2 y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01/08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828800"/>
            <a:ext cx="10469880" cy="3584448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31136"/>
            <a:ext cx="9784080" cy="11338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400" b="1">
                <a:solidFill>
                  <a:srgbClr val="28D0BF"/>
                </a:solidFill>
                <a:latin typeface="Aptos"/>
              </a:defRPr>
            </a:pPr>
            <a:r>
              <a:t>NODOS · PUNTEROS · RUTAS · MÉTRICAS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3694176"/>
            <a:ext cx="955548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500" b="0">
                <a:solidFill>
                  <a:srgbClr val="EAF3FF"/>
                </a:solidFill>
                <a:latin typeface="Aptos"/>
              </a:defRPr>
            </a:pPr>
            <a:r>
              <a:t>Python  •  Flet  •  MVC  • 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599432"/>
            <a:ext cx="973836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Prototipo listo para probar · empaquetados pendientes de compilar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01 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Cómo modelar reparto, prioridades y recorridos sin listas nativas.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02/08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0712" cy="347472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29992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PAQUETES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2953512" cy="2551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Despacho de pedidos por prioridad 1 (alta), 2 (media), 3 (baja).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10712" cy="347472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47672"/>
            <a:ext cx="29992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RUTAS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441448"/>
            <a:ext cx="2953512" cy="2551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Recorrer paradas en ambos sentidos y volver a comenzar automáticamente.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737360"/>
            <a:ext cx="3410712" cy="347472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947672"/>
            <a:ext cx="29992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APRENDIZAJE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441448"/>
            <a:ext cx="2953512" cy="25511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Ver punteros next/prev, probar operaciones y contrastar O(1) con O(n).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02  Arquitectura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Código organizado por responsabilidades, separado de Flet.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03/08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3383280" cy="3858768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2926080" cy="2935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estructuras/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NodoCircular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ListaDoblementeCircular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PriorityQueue ·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64208"/>
            <a:ext cx="3383280" cy="3858768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87452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CONTROLADOR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368296"/>
            <a:ext cx="2926080" cy="2935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controlador/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AppController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RutasController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Validación + métricas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64208"/>
            <a:ext cx="3383280" cy="3858768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874520"/>
            <a:ext cx="2971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VISTA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368296"/>
            <a:ext cx="2926080" cy="29352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vistas/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Tarjetas de nodos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Controles táctiles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Barra de navegación inferior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733288"/>
            <a:ext cx="10058400" cy="3931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Lógica de negocio y memoria desacopladas del dibujo.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03  Lista doblemente enlazada circular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Invariantes y navegación en dos direcciones sin extremos nulos.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04/08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04288"/>
            <a:ext cx="2542032" cy="128016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606040"/>
            <a:ext cx="23042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1">
                <a:solidFill>
                  <a:srgbClr val="EAF3FF"/>
                </a:solidFill>
                <a:latin typeface="Aptos"/>
              </a:defRPr>
            </a:pPr>
            <a:r>
              <a:t>CENTRAL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304288"/>
            <a:ext cx="2542032" cy="128016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2606040"/>
            <a:ext cx="23042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1">
                <a:solidFill>
                  <a:srgbClr val="EAF3FF"/>
                </a:solidFill>
                <a:latin typeface="Aptos"/>
              </a:defRPr>
            </a:pPr>
            <a:r>
              <a:t>NORTE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304288"/>
            <a:ext cx="2542032" cy="128016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2606040"/>
            <a:ext cx="23042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1">
                <a:solidFill>
                  <a:srgbClr val="EAF3FF"/>
                </a:solidFill>
                <a:latin typeface="Aptos"/>
              </a:defRPr>
            </a:pPr>
            <a:r>
              <a:t>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670048"/>
            <a:ext cx="475488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28D0BF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2670048"/>
            <a:ext cx="475488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28D0BF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078224"/>
            <a:ext cx="5084064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200" b="0">
                <a:solidFill>
                  <a:srgbClr val="28D0BF"/>
                </a:solidFill>
                <a:latin typeface="Aptos"/>
              </a:defRPr>
            </a:pPr>
            <a:r>
              <a:t>↖  cola.next → cabeza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4078224"/>
            <a:ext cx="4681728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200" b="0">
                <a:solidFill>
                  <a:srgbClr val="28D0BF"/>
                </a:solidFill>
                <a:latin typeface="Aptos"/>
              </a:defRPr>
            </a:pPr>
            <a:r>
              <a:t>cabeza.prev ← cola 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5010912"/>
            <a:ext cx="9948672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900" b="0">
                <a:solidFill>
                  <a:srgbClr val="AFC2D7"/>
                </a:solidFill>
                <a:latin typeface="Aptos"/>
              </a:defRPr>
            </a:pPr>
            <a:r>
              <a:t>Insertar O(1) · Avanzar O(1) · Buscar / eliminar por valor O(n)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04  Demostración interactiva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La vista Rutas representa un vehículo en movimiento.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05/08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856231"/>
            <a:ext cx="3401568" cy="3419856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066543"/>
            <a:ext cx="29900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CREAR RUTA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560320"/>
            <a:ext cx="2944368" cy="2496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Añadir paradas, editar el recorrido y eliminar una parada.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56231"/>
            <a:ext cx="3401568" cy="3419856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066543"/>
            <a:ext cx="29900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ANIMAR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60320"/>
            <a:ext cx="2944368" cy="2496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Reproducir una vuelta con pasos asíncronos cada 0,85 s; también pausar.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856231"/>
            <a:ext cx="3401568" cy="3419856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066543"/>
            <a:ext cx="29900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VERIFICAR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560320"/>
            <a:ext cx="2944368" cy="2496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Mostrar nodo activo, flechas bidireccionales e integridad de enlaces.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05  Rendimiento y complejidad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El panel usa el tiempo real del modelo Python, no tiempos inventados.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06/08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19072"/>
            <a:ext cx="5065776" cy="342900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29384"/>
            <a:ext cx="4654296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MEDICIONES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423160"/>
            <a:ext cx="4608576" cy="2505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Operaciones por segundo (ventana de 5 s).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Última operación y latencia promedio.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Bytes aproximados por nodo CPython.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719072"/>
            <a:ext cx="5321808" cy="3429000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29384"/>
            <a:ext cx="491032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423160"/>
            <a:ext cx="4864608" cy="2505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N inserciones al final: O(1) cada una.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N búsquedas de valor ausente: O(n) cada una.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Se muestran tiempos y proporción medidos.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50408"/>
            <a:ext cx="101498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0">
                <a:solidFill>
                  <a:srgbClr val="AFC2D7"/>
                </a:solidFill>
                <a:latin typeface="Aptos"/>
              </a:defRPr>
            </a:pPr>
            <a:r>
              <a:t>La memoria no incluye Flutter, heap total ni transporte WebSocket.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06  Tres entornos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Un núcleo Python; varias formas de ejecución y distribución.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07/08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700784"/>
            <a:ext cx="3401568" cy="3675887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911096"/>
            <a:ext cx="29900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04872"/>
            <a:ext cx="2944368" cy="27523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python main.py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flet build windows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Ejecutable x64 en Windows, con Visual Studio C++.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00784"/>
            <a:ext cx="3401568" cy="3675887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11096"/>
            <a:ext cx="29900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04872"/>
            <a:ext cx="2944368" cy="27523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flet run --web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Docker + WebSockets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Se necesita HTTPS y hosting para URL pública.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700784"/>
            <a:ext cx="3401568" cy="3675887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911096"/>
            <a:ext cx="2990088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404872"/>
            <a:ext cx="2944368" cy="27523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Barra inferior y diseño touch.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flet build apk</a:t>
            </a:r>
          </a:p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JDK 17 + SDK Android.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100584" cy="539496"/>
          </a:xfrm>
          <a:prstGeom prst="rect">
            <a:avLst/>
          </a:prstGeom>
          <a:solidFill>
            <a:srgbClr val="28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10424160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900" b="1">
                <a:solidFill>
                  <a:srgbClr val="EAF3FF"/>
                </a:solidFill>
                <a:latin typeface="Aptos"/>
              </a:defRPr>
            </a:pPr>
            <a:r>
              <a:t>07  Pruebas y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05840"/>
            <a:ext cx="106070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AFC2D7"/>
                </a:solidFill>
                <a:latin typeface="Aptos"/>
              </a:defRPr>
            </a:pPr>
            <a:r>
              <a:t>Código, pruebas, documentación y guía de presentación.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419088"/>
            <a:ext cx="10789920" cy="22860"/>
          </a:xfrm>
          <a:prstGeom prst="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AFC2D7"/>
                </a:solidFill>
                <a:latin typeface="Aptos"/>
              </a:defRPr>
            </a:pPr>
            <a:r>
              <a:t>ED1 · SEMANA 3       08/08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148072" cy="3502152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473659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PRUEBAS UNITARIAS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41448"/>
            <a:ext cx="4690872" cy="2578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14 pruebas superadas sobre punteros, cola circular, historial, prioridad, ruta, métricas y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5148072" cy="3502152"/>
          </a:xfrm>
          <a:prstGeom prst="roundRect">
            <a:avLst/>
          </a:prstGeom>
          <a:solidFill>
            <a:srgbClr val="1F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47672"/>
            <a:ext cx="473659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28D0BF"/>
                </a:solidFill>
                <a:latin typeface="Aptos"/>
              </a:defRPr>
            </a:pPr>
            <a:r>
              <a:t>PAQUETE DE 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441448"/>
            <a:ext cx="4690872" cy="2578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EAF3FF"/>
                </a:solidFill>
                <a:latin typeface="Aptos"/>
              </a:defRPr>
            </a:pPr>
            <a:r>
              <a:t>ZIP con proyecto Python, Dockerfile, scripts .bat, tabla O(1)/O(n), Mermaid y guías de despliegue.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60136"/>
            <a:ext cx="10241280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8D0BF"/>
                </a:solidFill>
                <a:latin typeface="Aptos"/>
              </a:defRPr>
            </a:pPr>
            <a:r>
              <a:t>Próximo paso: validación visual en Flet y compilación en los dispositivos de destino.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